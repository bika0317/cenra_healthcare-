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8C005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548640"/>
            <a:ext cx="2926080" cy="2926080"/>
          </a:xfrm>
          <a:prstGeom prst="ellipse">
            <a:avLst/>
          </a:prstGeom>
          <a:solidFill>
            <a:srgbClr val="C8006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8C005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39C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中化智匯盃　AI 創新應用挑戰賽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精準打擊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8D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驅動的「智慧巡訪與成交預判」系統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502920" cy="54864"/>
          </a:xfrm>
          <a:prstGeom prst="rect">
            <a:avLst/>
          </a:prstGeom>
          <a:solidFill>
            <a:srgbClr val="C8006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86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A9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　｜　把 CRM 從紀錄工具變成戰略大腦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7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隊名／隊員：＿＿＿＿＿＿＿＿＿＿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問題洞察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業務現場的真實痛點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B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057400"/>
            <a:ext cx="685800" cy="685800"/>
          </a:xfrm>
          <a:prstGeom prst="ellipse">
            <a:avLst/>
          </a:prstGeom>
          <a:solidFill>
            <a:srgbClr val="FBE4E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057400" y="194767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只是事後紀錄工具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57400" y="2350008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業務員拜訪完才補登資料，系統缺乏事前判斷依據，無法主動提醒該去誰家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B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520440"/>
            <a:ext cx="685800" cy="685800"/>
          </a:xfrm>
          <a:prstGeom prst="ellipse">
            <a:avLst/>
          </a:prstGeom>
          <a:solidFill>
            <a:srgbClr val="FBE4E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057400" y="341071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拜訪資源分配靠經驗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3813048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熟客被過度拜訪、真正有風險的客戶反而被忽略，人均產值上不去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470916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B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4983480"/>
            <a:ext cx="685800" cy="685800"/>
          </a:xfrm>
          <a:prstGeom prst="ellipse">
            <a:avLst/>
          </a:prstGeom>
          <a:solidFill>
            <a:srgbClr val="FBE4EF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487375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缺乏競品入侵早期預警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57400" y="5276088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等到訂單掉了才發現客戶已被競品滲透，往往為時已晚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問題洞察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這個問題有多大？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模擬客戶數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0358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以中化裕民業務情境建構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920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3440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疑似高風險客戶佔比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30358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拜訪/業績訊號組合異常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429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920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66760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潛在競品壓力客戶佔比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30358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近期拜訪／業績出現下滑訊號</a:t>
            </a:r>
            <a:endParaRPr lang="en-US" sz="1100" dirty="0"/>
          </a:p>
        </p:txBody>
      </p:sp>
      <p:pic>
        <p:nvPicPr>
          <p:cNvPr id="16" name="Image 0" descr="C:\Users\sherr\Desktop\智慧巡訪與成交預判系統\docs\assets\risk_by_reg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3703320"/>
            <a:ext cx="8503920" cy="2148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152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各地區風險客戶分佈（原型模擬資料）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創新解方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CRM 從紀錄工具變成戰略大腦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166360" cy="1691640"/>
          </a:xfrm>
          <a:prstGeom prst="roundRect">
            <a:avLst>
              <a:gd name="adj" fmla="val 6486"/>
            </a:avLst>
          </a:prstGeom>
          <a:solidFill>
            <a:srgbClr val="FB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057400"/>
            <a:ext cx="685800" cy="685800"/>
          </a:xfrm>
          <a:prstGeom prst="ellipse">
            <a:avLst/>
          </a:prstGeom>
          <a:solidFill>
            <a:srgbClr val="FBE4E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🔮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965960" y="2039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成交預判模型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67919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RandomForest 預測每位客戶未來 90 天下單機率，5-fold CV AUC 0.618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166360" cy="1691640"/>
          </a:xfrm>
          <a:prstGeom prst="roundRect">
            <a:avLst>
              <a:gd name="adj" fmla="val 6486"/>
            </a:avLst>
          </a:prstGeom>
          <a:solidFill>
            <a:srgbClr val="FB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57400"/>
            <a:ext cx="685800" cy="685800"/>
          </a:xfrm>
          <a:prstGeom prst="ellipse">
            <a:avLst/>
          </a:prstGeom>
          <a:solidFill>
            <a:srgbClr val="FBE4EF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406640" y="2039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競品入侵風險偵測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6520" y="267919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IsolationForest 無監督異常偵測，找出拜訪/業績組合異常的客戶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5166360" cy="1691640"/>
          </a:xfrm>
          <a:prstGeom prst="roundRect">
            <a:avLst>
              <a:gd name="adj" fmla="val 6486"/>
            </a:avLst>
          </a:prstGeom>
          <a:solidFill>
            <a:srgbClr val="FB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4023360"/>
            <a:ext cx="685800" cy="685800"/>
          </a:xfrm>
          <a:prstGeom prst="ellipse">
            <a:avLst/>
          </a:prstGeom>
          <a:solidFill>
            <a:srgbClr val="FBE4E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965960" y="4005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拜訪優先清單＋路線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464515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成交機率×客戶價值×風險加權排序，地圖標出建議拜訪順序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166360" cy="1691640"/>
          </a:xfrm>
          <a:prstGeom prst="roundRect">
            <a:avLst>
              <a:gd name="adj" fmla="val 6486"/>
            </a:avLst>
          </a:prstGeom>
          <a:solidFill>
            <a:srgbClr val="FB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023360"/>
            <a:ext cx="685800" cy="685800"/>
          </a:xfrm>
          <a:prstGeom prst="ellipse">
            <a:avLst/>
          </a:prstGeom>
          <a:solidFill>
            <a:srgbClr val="FBE4EF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406640" y="4005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可解釋性＋推薦品項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46520" y="464515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白話說明系統判斷依據；Next Best Action 建議主推品項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39C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 → 模型 → 排序 → 應用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20233A"/>
          </a:solidFill>
          <a:ln w="12700">
            <a:solidFill>
              <a:srgbClr val="3A3E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C8006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21992"/>
            <a:ext cx="1965960" cy="246888"/>
          </a:xfrm>
          <a:prstGeom prst="rect">
            <a:avLst/>
          </a:prstGeom>
          <a:solidFill>
            <a:srgbClr val="C8006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651760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拜訪紀錄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354787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訂單資料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4443984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客戶地理座標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97480" y="33375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9C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53512" y="196596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20233A"/>
          </a:solidFill>
          <a:ln w="12700">
            <a:solidFill>
              <a:srgbClr val="3A3E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53512" y="196596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C8006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53512" y="2221992"/>
            <a:ext cx="1965960" cy="246888"/>
          </a:xfrm>
          <a:prstGeom prst="rect">
            <a:avLst/>
          </a:prstGeom>
          <a:solidFill>
            <a:srgbClr val="C8006E"/>
          </a:solidFill>
          <a:ln/>
        </p:spPr>
      </p:sp>
      <p:sp>
        <p:nvSpPr>
          <p:cNvPr id="15" name="Text 13"/>
          <p:cNvSpPr/>
          <p:nvPr/>
        </p:nvSpPr>
        <p:spPr>
          <a:xfrm>
            <a:off x="2953512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特徵工程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63240" y="2651760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63240" y="354787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業績趨勢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4443984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拜訪/訂單轉換率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33375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9C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175504" y="196596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20233A"/>
          </a:solidFill>
          <a:ln w="12700">
            <a:solidFill>
              <a:srgbClr val="3A3E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75504" y="196596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C8006E"/>
          </a:solidFill>
          <a:ln/>
        </p:spPr>
      </p:sp>
      <p:sp>
        <p:nvSpPr>
          <p:cNvPr id="22" name="Shape 20"/>
          <p:cNvSpPr/>
          <p:nvPr/>
        </p:nvSpPr>
        <p:spPr>
          <a:xfrm>
            <a:off x="5175504" y="2221992"/>
            <a:ext cx="1965960" cy="246888"/>
          </a:xfrm>
          <a:prstGeom prst="rect">
            <a:avLst/>
          </a:prstGeom>
          <a:solidFill>
            <a:srgbClr val="C8006E"/>
          </a:solidFill>
          <a:ln/>
        </p:spPr>
      </p:sp>
      <p:sp>
        <p:nvSpPr>
          <p:cNvPr id="23" name="Text 21"/>
          <p:cNvSpPr/>
          <p:nvPr/>
        </p:nvSpPr>
        <p:spPr>
          <a:xfrm>
            <a:off x="5175504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模型層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85232" y="2651760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RandomForest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成交預判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85232" y="354787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IsolationForest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異常風險偵測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41464" y="33375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9C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397496" y="196596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20233A"/>
          </a:solidFill>
          <a:ln w="12700">
            <a:solidFill>
              <a:srgbClr val="3A3E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97496" y="196596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C8006E"/>
          </a:solidFill>
          <a:ln/>
        </p:spPr>
      </p:sp>
      <p:sp>
        <p:nvSpPr>
          <p:cNvPr id="29" name="Shape 27"/>
          <p:cNvSpPr/>
          <p:nvPr/>
        </p:nvSpPr>
        <p:spPr>
          <a:xfrm>
            <a:off x="7397496" y="2221992"/>
            <a:ext cx="1965960" cy="246888"/>
          </a:xfrm>
          <a:prstGeom prst="rect">
            <a:avLst/>
          </a:prstGeom>
          <a:solidFill>
            <a:srgbClr val="C8006E"/>
          </a:solidFill>
          <a:ln/>
        </p:spPr>
      </p:sp>
      <p:sp>
        <p:nvSpPr>
          <p:cNvPr id="30" name="Text 28"/>
          <p:cNvSpPr/>
          <p:nvPr/>
        </p:nvSpPr>
        <p:spPr>
          <a:xfrm>
            <a:off x="7397496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排序＋解釋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07224" y="2651760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優先分數排序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507224" y="354787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可解釋性模組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07224" y="4443984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Next Best Action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363456" y="33375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9C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619488" y="196596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20233A"/>
          </a:solidFill>
          <a:ln w="12700">
            <a:solidFill>
              <a:srgbClr val="3A3E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19488" y="196596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C8006E"/>
          </a:solidFill>
          <a:ln/>
        </p:spPr>
      </p:sp>
      <p:sp>
        <p:nvSpPr>
          <p:cNvPr id="37" name="Shape 35"/>
          <p:cNvSpPr/>
          <p:nvPr/>
        </p:nvSpPr>
        <p:spPr>
          <a:xfrm>
            <a:off x="9619488" y="2221992"/>
            <a:ext cx="1965960" cy="246888"/>
          </a:xfrm>
          <a:prstGeom prst="rect">
            <a:avLst/>
          </a:prstGeom>
          <a:solidFill>
            <a:srgbClr val="C8006E"/>
          </a:solidFill>
          <a:ln/>
        </p:spPr>
      </p:sp>
      <p:sp>
        <p:nvSpPr>
          <p:cNvPr id="38" name="Text 36"/>
          <p:cNvSpPr/>
          <p:nvPr/>
        </p:nvSpPr>
        <p:spPr>
          <a:xfrm>
            <a:off x="9619488" y="1965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應用層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729216" y="2651760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Dashboard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729216" y="354787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Email／LINE 通知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729216" y="4443984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CSV／Excel 匯出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系統展示　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管理總覽：一眼看出該搶救誰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以下皆為原型系統實際運作畫面截圖（非示意圖）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76656" y="1636776"/>
            <a:ext cx="10835640" cy="4578858"/>
          </a:xfrm>
          <a:prstGeom prst="roundRect">
            <a:avLst>
              <a:gd name="adj" fmla="val 1198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6" name="Image 0" descr="C:\Users\sherr\Desktop\智慧巡訪與成交預判系統\docs\screenshots\crop\kpi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10725912" cy="4469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6252210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實際畫面：客戶總數／高風險客戶／平均成交機率 KPI ＋ 客戶價值×成交機率×風險 散佈圖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系統展示　01（續）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客戶地理熱點 ＋ 效益模擬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" y="1316736"/>
            <a:ext cx="8376906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5" name="Image 0" descr="C:\Users\sherr\Desktop\智慧巡訪與成交預判系統\docs\screenshots\crop\geo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8267178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456432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實際畫面：客戶地理分佈地圖（風險燈號）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6656" y="3950208"/>
            <a:ext cx="4101698" cy="1892808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8" name="Image 1" descr="C:\Users\sherr\Desktop\智慧巡訪與成交預判系統\docs\screenshots\crop\rep_risk_eff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05072"/>
            <a:ext cx="3991970" cy="1783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5861304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實際畫面：各業務員風險分佈 ＋ AI 排序 vs 隨機拜訪效益模擬（含 95% 信賴區間）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系統展示　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業務員每日建議：拜訪優先清單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依「成交機率 × 客戶價值 × 風險」排序，取代純文字/經驗判斷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636776"/>
            <a:ext cx="10257338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6" name="Image 0" descr="C:\Users\sherr\Desktop\智慧巡訪與成交預判系統\docs\screenshots\crop\priority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10147610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43600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實際畫面：選定業務員「丁雅玲」的今日建議拜訪清單（含風險燈號、成交機率、營收）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系統展示　02（續）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拜訪路線地圖 ＋ Next Best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" y="1316736"/>
            <a:ext cx="7094728" cy="2624328"/>
          </a:xfrm>
          <a:prstGeom prst="roundRect">
            <a:avLst>
              <a:gd name="adj" fmla="val 2091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5" name="Image 0" descr="C:\Users\sherr\Desktop\智慧巡訪與成交預判系統\docs\screenshots\crop\rout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6985000" cy="2514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959352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實際畫面：地圖上以數字標出建議拜訪順序（直線示意，非實際路網路徑）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6656" y="4334256"/>
            <a:ext cx="5861599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8" name="Image 1" descr="C:\Users\sherr\Desktop\智慧巡訪與成交預判系統\docs\screenshots\crop\nba_a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89120"/>
            <a:ext cx="5751871" cy="1188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5650992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實際畫面：Top 3 建議行動，每筆都附上 Next Best Action 推薦品項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系統展示　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客戶診斷：系統判斷不是黑盒子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" y="1316736"/>
            <a:ext cx="6023967" cy="2258568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5" name="Image 0" descr="C:\Users\sherr\Desktop\智慧巡訪與成交預判系統\docs\screenshots\crop\explain_n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914239" cy="2148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593592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實際畫面：系統判斷原因（可解釋性）＋ Next Best Action 建議主推品項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6656" y="3886200"/>
            <a:ext cx="5335524" cy="1712305"/>
          </a:xfrm>
          <a:prstGeom prst="roundRect">
            <a:avLst>
              <a:gd name="adj" fmla="val 3204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8" name="Image 1" descr="C:\Users\sherr\Desktop\智慧巡訪與成交預判系統\docs\screenshots\crop\order_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41064"/>
            <a:ext cx="5225796" cy="16025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5616793"/>
            <a:ext cx="52257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實際畫面：訂單金額趨勢圖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76772" y="3886200"/>
            <a:ext cx="5335524" cy="1816821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11" name="Image 2" descr="C:\Users\sherr\Desktop\智慧巡訪與成交預判系統\docs\screenshots\crop\visit_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3941064"/>
            <a:ext cx="5225796" cy="17070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31636" y="5721309"/>
            <a:ext cx="52257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實際畫面：近期拜訪紀錄清單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系統展示　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每日主動通知 ＋ 一鍵匯出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76656" y="1271016"/>
            <a:ext cx="620572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5" name="Image 0" descr="C:\Users\sherr\Desktop\智慧巡訪與成交預判系統\docs\screenshots\crop\export_butt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609600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929384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實際畫面：全公司／單一業務員 CSV、Excel 一鍵匯出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6656" y="2167128"/>
            <a:ext cx="3502152" cy="1738092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8" name="Image 1" descr="C:\Users\sherr\Desktop\智慧巡訪與成交預判系統\docs\screenshots\crop\email_p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21992"/>
            <a:ext cx="3392424" cy="16283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923508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通知 Dry Run 預覽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43400" y="2167128"/>
            <a:ext cx="3502152" cy="1625011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11" name="Image 2" descr="C:\Users\sherr\Desktop\智慧巡訪與成交預判系統\docs\screenshots\crop\manager_dig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2221992"/>
            <a:ext cx="3392424" cy="15152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98264" y="3810427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主管高風險彙總信預覽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8010144" y="2167128"/>
            <a:ext cx="3502152" cy="1285768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14" name="Image 3" descr="C:\Users\sherr\Desktop\智慧巡訪與成交預判系統\docs\screenshots\crop\line_m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221992"/>
            <a:ext cx="3392424" cy="1176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65008" y="3471184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訊息 Mock 預覽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技術驗證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模型表現穩定，不是抽樣運氣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636776"/>
            <a:ext cx="5504688" cy="3346704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5" name="Image 0" descr="C:\Users\sherr\Desktop\智慧巡訪與成交預判系統\docs\screenshots\crop\cv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394960" cy="323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0017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實際畫面：5-fold 交叉驗證 AUC 0.618 ± 0.023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17336" y="1636776"/>
            <a:ext cx="5504688" cy="1944014"/>
          </a:xfrm>
          <a:prstGeom prst="roundRect">
            <a:avLst>
              <a:gd name="adj" fmla="val 2822"/>
            </a:avLst>
          </a:prstGeom>
          <a:solidFill>
            <a:srgbClr val="FFFFFF"/>
          </a:solidFill>
          <a:ln w="12700">
            <a:solidFill>
              <a:srgbClr val="E8E5EA"/>
            </a:solidFill>
            <a:prstDash val="solid"/>
          </a:ln>
        </p:spPr>
      </p:sp>
      <p:pic>
        <p:nvPicPr>
          <p:cNvPr id="8" name="Image 1" descr="C:\Users\sherr\Desktop\智慧巡訪與成交預判系統\docs\screenshots\crop\risk_dist_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394960" cy="18342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359907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實際畫面：IsolationForest 異常分數分佈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39C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落地效益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四個面向的實質價值</a:t>
            </a:r>
            <a:endParaRPr lang="en-US" sz="3000" dirty="0"/>
          </a:p>
        </p:txBody>
      </p:sp>
      <p:pic>
        <p:nvPicPr>
          <p:cNvPr id="4" name="Image 0" descr="C:\Users\sherr\Desktop\智慧巡訪與成交預判系統\docs\assets\effect_c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42062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257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0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Bootstrap 400 次重抽樣估計（合成資料模擬，正式上線建議 A/B 測試驗證）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349240" y="1691640"/>
            <a:ext cx="548640" cy="548640"/>
          </a:xfrm>
          <a:prstGeom prst="ellipse">
            <a:avLst/>
          </a:prstGeom>
          <a:solidFill>
            <a:srgbClr val="3A2A3E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560" dirty="0"/>
          </a:p>
        </p:txBody>
      </p:sp>
      <p:sp>
        <p:nvSpPr>
          <p:cNvPr id="8" name="Text 5"/>
          <p:cNvSpPr/>
          <p:nvPr/>
        </p:nvSpPr>
        <p:spPr>
          <a:xfrm>
            <a:off x="6035040" y="1664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C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效率面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35040" y="20391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減少無效拜訪，資源集中在高價值/高風險客戶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2587752"/>
            <a:ext cx="548640" cy="548640"/>
          </a:xfrm>
          <a:prstGeom prst="ellipse">
            <a:avLst/>
          </a:prstGeom>
          <a:solidFill>
            <a:srgbClr val="3A2A3E"/>
          </a:solidFill>
          <a:ln/>
        </p:spPr>
      </p:sp>
      <p:sp>
        <p:nvSpPr>
          <p:cNvPr id="11" name="Text 8"/>
          <p:cNvSpPr/>
          <p:nvPr/>
        </p:nvSpPr>
        <p:spPr>
          <a:xfrm>
            <a:off x="534924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560" dirty="0"/>
          </a:p>
        </p:txBody>
      </p:sp>
      <p:sp>
        <p:nvSpPr>
          <p:cNvPr id="12" name="Text 9"/>
          <p:cNvSpPr/>
          <p:nvPr/>
        </p:nvSpPr>
        <p:spPr>
          <a:xfrm>
            <a:off x="6035040" y="2560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C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防禦面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35040" y="29352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及早攔截競品入侵，降低客戶流失率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349240" y="3483864"/>
            <a:ext cx="548640" cy="548640"/>
          </a:xfrm>
          <a:prstGeom prst="ellipse">
            <a:avLst/>
          </a:prstGeom>
          <a:solidFill>
            <a:srgbClr val="3A2A3E"/>
          </a:solidFill>
          <a:ln/>
        </p:spPr>
      </p:sp>
      <p:sp>
        <p:nvSpPr>
          <p:cNvPr id="15" name="Text 12"/>
          <p:cNvSpPr/>
          <p:nvPr/>
        </p:nvSpPr>
        <p:spPr>
          <a:xfrm>
            <a:off x="5349240" y="3483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560" dirty="0"/>
          </a:p>
        </p:txBody>
      </p:sp>
      <p:sp>
        <p:nvSpPr>
          <p:cNvPr id="16" name="Text 13"/>
          <p:cNvSpPr/>
          <p:nvPr/>
        </p:nvSpPr>
        <p:spPr>
          <a:xfrm>
            <a:off x="6035040" y="34564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C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加值面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035040" y="383133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Next Best Action 主動擴大品項滲透，提升客單價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349240" y="4379976"/>
            <a:ext cx="548640" cy="548640"/>
          </a:xfrm>
          <a:prstGeom prst="ellipse">
            <a:avLst/>
          </a:prstGeom>
          <a:solidFill>
            <a:srgbClr val="3A2A3E"/>
          </a:solidFill>
          <a:ln/>
        </p:spPr>
      </p:sp>
      <p:sp>
        <p:nvSpPr>
          <p:cNvPr id="19" name="Text 16"/>
          <p:cNvSpPr/>
          <p:nvPr/>
        </p:nvSpPr>
        <p:spPr>
          <a:xfrm>
            <a:off x="5349240" y="4379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560" dirty="0"/>
          </a:p>
        </p:txBody>
      </p:sp>
      <p:sp>
        <p:nvSpPr>
          <p:cNvPr id="20" name="Text 17"/>
          <p:cNvSpPr/>
          <p:nvPr/>
        </p:nvSpPr>
        <p:spPr>
          <a:xfrm>
            <a:off x="6035040" y="4352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9C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傳承面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035040" y="47274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6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業務離職／輪調時，判斷邏輯留在系統裡不隨人走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導入規劃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965960" y="3291840"/>
            <a:ext cx="8229600" cy="0"/>
          </a:xfrm>
          <a:prstGeom prst="line">
            <a:avLst/>
          </a:prstGeom>
          <a:noFill/>
          <a:ln w="38100">
            <a:solidFill>
              <a:srgbClr val="EDE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37944" y="3163824"/>
            <a:ext cx="256032" cy="256032"/>
          </a:xfrm>
          <a:prstGeom prst="ellipse">
            <a:avLst/>
          </a:prstGeom>
          <a:solidFill>
            <a:srgbClr val="C800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1–2 個月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61188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BF8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資料串接與模型驗證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串接真實 CRM/ERP 資料，模型重新訓練與驗證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52744" y="3163824"/>
            <a:ext cx="256032" cy="256032"/>
          </a:xfrm>
          <a:prstGeom prst="ellipse">
            <a:avLst/>
          </a:prstGeom>
          <a:solidFill>
            <a:srgbClr val="C800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2–3 個月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361188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B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小範圍試點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00600" y="418795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小範圍業務團隊試點，量測拜訪效率與成交率變化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67544" y="3163824"/>
            <a:ext cx="256032" cy="256032"/>
          </a:xfrm>
          <a:prstGeom prst="ellipse">
            <a:avLst/>
          </a:prstGeom>
          <a:solidFill>
            <a:srgbClr val="C800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00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3252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持續推廣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32520" y="3611880"/>
            <a:ext cx="2926080" cy="1600200"/>
          </a:xfrm>
          <a:prstGeom prst="roundRect">
            <a:avLst>
              <a:gd name="adj" fmla="val 5714"/>
            </a:avLst>
          </a:prstGeom>
          <a:solidFill>
            <a:srgbClr val="FB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全區推廣＋進階模組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915400" y="418795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全區推廣，加入真實路網路線規劃、LINE/SMTP 正式串接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中化裕民 CENRA+ Healthcare 賽題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2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8C005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C8006E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精準打擊：AI 驅動的「智慧巡訪與成交預判」系統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502920" cy="54864"/>
          </a:xfrm>
          <a:prstGeom prst="rect">
            <a:avLst/>
          </a:prstGeom>
          <a:solidFill>
            <a:srgbClr val="C800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A9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團隊成員：＿＿＿＿＿＿＿＿＿＿＿＿＿＿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87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感謝聆聽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2026-08-18T15:15:49Z</dcterms:created>
  <dcterms:modified xsi:type="dcterms:W3CDTF">2026-08-18T15:15:49Z</dcterms:modified>
</cp:coreProperties>
</file>