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8C005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548640"/>
            <a:ext cx="2926080" cy="2926080"/>
          </a:xfrm>
          <a:prstGeom prst="ellipse">
            <a:avLst/>
          </a:prstGeom>
          <a:solidFill>
            <a:srgbClr val="C8006E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8C0050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中化智匯盃　AI 創新應用挑戰賽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精準打擊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8D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驅動的「智慧巡訪與成交預判」系統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22960" y="3703320"/>
            <a:ext cx="502920" cy="54864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8862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A9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　｜　把 CRM 從紀錄工具變成戰略大腦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87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隊名／隊員：＿＿＿＿＿＿＿＿＿＿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問題洞察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業務現場的真實痛點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10698480" cy="1234440"/>
          </a:xfrm>
          <a:prstGeom prst="roundRect">
            <a:avLst>
              <a:gd name="adj" fmla="val 8889"/>
            </a:avLst>
          </a:prstGeom>
          <a:solidFill>
            <a:srgbClr val="FBF8FA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05740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📋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057400" y="194767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只是事後紀錄工具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057400" y="2350008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業務員拜訪完才補登資料，系統缺乏事前判斷依據，無法主動提醒該去誰家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1234440"/>
          </a:xfrm>
          <a:prstGeom prst="roundRect">
            <a:avLst>
              <a:gd name="adj" fmla="val 8889"/>
            </a:avLst>
          </a:prstGeom>
          <a:solidFill>
            <a:srgbClr val="FB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1051560" y="352044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🎯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2057400" y="341071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拜訪資源分配靠經驗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57400" y="3813048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熟客被過度拜訪、真正有風險的客戶反而被忽略，人均產值上不去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34440"/>
          </a:xfrm>
          <a:prstGeom prst="roundRect">
            <a:avLst>
              <a:gd name="adj" fmla="val 8889"/>
            </a:avLst>
          </a:prstGeom>
          <a:solidFill>
            <a:srgbClr val="FB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" y="498348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4983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⚠️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4873752"/>
            <a:ext cx="9052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缺乏競品入侵早期預警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057400" y="5276088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等到訂單掉了才發現客戶已被競品滲透，往往為時已晚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問題洞察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這個問題有多大？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9202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模擬客戶數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30358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以中化裕民業務情境建構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7830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19202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63440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疑似高風險客戶佔比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30358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拜訪/業績訊號組合異常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290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19202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66760" y="26974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潛在競品壓力客戶佔比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66760" y="303580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近期拜訪／業績出現下滑訊號</a:t>
            </a:r>
            <a:endParaRPr lang="en-US" sz="1100" dirty="0"/>
          </a:p>
        </p:txBody>
      </p:sp>
      <p:pic>
        <p:nvPicPr>
          <p:cNvPr id="16" name="Image 0" descr="C:\Users\sherr\Desktop\智慧巡訪與成交預判系統\docs\assets\risk_by_reg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0" y="3703320"/>
            <a:ext cx="8503920" cy="21488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3152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各地區風險客戶分佈（原型模擬資料）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創新解方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CRM 從紀錄工具變成戰略大腦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BF8FA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205740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🔮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965960" y="203911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成交預判模型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6791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RandomForest 預測每位客戶未來 90 天下單機率，5-fold CV AUC 0.618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BF8FA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05740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7406640" y="203911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競品入侵風險偵測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46520" y="26791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IsolationForest 無監督異常偵測，找出拜訪/業績組合異常的客戶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3749040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BF8FA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5840" y="402336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023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🗺️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965960" y="4005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拜訪優先清單＋路線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464515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成交機率×客戶價值×風險加權排序，地圖標出建議拜訪順序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3749040"/>
            <a:ext cx="5166360" cy="1691640"/>
          </a:xfrm>
          <a:prstGeom prst="roundRect">
            <a:avLst>
              <a:gd name="adj" fmla="val 6486"/>
            </a:avLst>
          </a:prstGeom>
          <a:solidFill>
            <a:srgbClr val="FBF8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023360"/>
            <a:ext cx="685800" cy="685800"/>
          </a:xfrm>
          <a:prstGeom prst="ellipse">
            <a:avLst/>
          </a:prstGeom>
          <a:solidFill>
            <a:srgbClr val="FBE4EF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023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💡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7406640" y="400507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可解釋性＋推薦品項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46520" y="464515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白話說明系統判斷依據；Next Best Action 建議主推品項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 → 模型 → 排序 → 應用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965960" cy="3291840"/>
          </a:xfrm>
          <a:prstGeom prst="roundRect">
            <a:avLst>
              <a:gd name="adj" fmla="val 4651"/>
            </a:avLst>
          </a:prstGeom>
          <a:solidFill>
            <a:srgbClr val="20233A"/>
          </a:solidFill>
          <a:ln w="12700">
            <a:solidFill>
              <a:srgbClr val="3A3E5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96596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C8006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221992"/>
            <a:ext cx="1965960" cy="246888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41248" y="2651760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CRM 拜訪紀錄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41248" y="3547872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ERP 訂單資料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4443984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客戶地理座標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97480" y="3337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953512" y="1965960"/>
            <a:ext cx="1965960" cy="3291840"/>
          </a:xfrm>
          <a:prstGeom prst="roundRect">
            <a:avLst>
              <a:gd name="adj" fmla="val 4651"/>
            </a:avLst>
          </a:prstGeom>
          <a:solidFill>
            <a:srgbClr val="20233A"/>
          </a:solidFill>
          <a:ln w="12700">
            <a:solidFill>
              <a:srgbClr val="3A3E5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53512" y="196596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C8006E"/>
          </a:solidFill>
          <a:ln/>
        </p:spPr>
      </p:sp>
      <p:sp>
        <p:nvSpPr>
          <p:cNvPr id="14" name="Shape 12"/>
          <p:cNvSpPr/>
          <p:nvPr/>
        </p:nvSpPr>
        <p:spPr>
          <a:xfrm>
            <a:off x="2953512" y="2221992"/>
            <a:ext cx="1965960" cy="246888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15" name="Text 13"/>
          <p:cNvSpPr/>
          <p:nvPr/>
        </p:nvSpPr>
        <p:spPr>
          <a:xfrm>
            <a:off x="2953512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特徵工程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063240" y="2651760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RFM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063240" y="3547872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業績趨勢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3240" y="4443984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拜訪/訂單轉換率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919472" y="3337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175504" y="1965960"/>
            <a:ext cx="1965960" cy="3291840"/>
          </a:xfrm>
          <a:prstGeom prst="roundRect">
            <a:avLst>
              <a:gd name="adj" fmla="val 4651"/>
            </a:avLst>
          </a:prstGeom>
          <a:solidFill>
            <a:srgbClr val="20233A"/>
          </a:solidFill>
          <a:ln w="12700">
            <a:solidFill>
              <a:srgbClr val="3A3E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75504" y="196596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C8006E"/>
          </a:solidFill>
          <a:ln/>
        </p:spPr>
      </p:sp>
      <p:sp>
        <p:nvSpPr>
          <p:cNvPr id="22" name="Shape 20"/>
          <p:cNvSpPr/>
          <p:nvPr/>
        </p:nvSpPr>
        <p:spPr>
          <a:xfrm>
            <a:off x="5175504" y="2221992"/>
            <a:ext cx="1965960" cy="246888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23" name="Text 21"/>
          <p:cNvSpPr/>
          <p:nvPr/>
        </p:nvSpPr>
        <p:spPr>
          <a:xfrm>
            <a:off x="5175504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模型層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85232" y="2651760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RandomForest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成交預判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285232" y="3547872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IsolationForest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異常風險偵測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41464" y="3337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7397496" y="1965960"/>
            <a:ext cx="1965960" cy="3291840"/>
          </a:xfrm>
          <a:prstGeom prst="roundRect">
            <a:avLst>
              <a:gd name="adj" fmla="val 4651"/>
            </a:avLst>
          </a:prstGeom>
          <a:solidFill>
            <a:srgbClr val="20233A"/>
          </a:solidFill>
          <a:ln w="12700">
            <a:solidFill>
              <a:srgbClr val="3A3E5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97496" y="196596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C8006E"/>
          </a:solidFill>
          <a:ln/>
        </p:spPr>
      </p:sp>
      <p:sp>
        <p:nvSpPr>
          <p:cNvPr id="29" name="Shape 27"/>
          <p:cNvSpPr/>
          <p:nvPr/>
        </p:nvSpPr>
        <p:spPr>
          <a:xfrm>
            <a:off x="7397496" y="2221992"/>
            <a:ext cx="1965960" cy="246888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30" name="Text 28"/>
          <p:cNvSpPr/>
          <p:nvPr/>
        </p:nvSpPr>
        <p:spPr>
          <a:xfrm>
            <a:off x="7397496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排序＋解釋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507224" y="2651760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優先分數排序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507224" y="3547872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可解釋性模組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7507224" y="4443984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Next Best Action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3337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9619488" y="1965960"/>
            <a:ext cx="1965960" cy="3291840"/>
          </a:xfrm>
          <a:prstGeom prst="roundRect">
            <a:avLst>
              <a:gd name="adj" fmla="val 4651"/>
            </a:avLst>
          </a:prstGeom>
          <a:solidFill>
            <a:srgbClr val="20233A"/>
          </a:solidFill>
          <a:ln w="12700">
            <a:solidFill>
              <a:srgbClr val="3A3E5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619488" y="1965960"/>
            <a:ext cx="1965960" cy="502920"/>
          </a:xfrm>
          <a:prstGeom prst="roundRect">
            <a:avLst>
              <a:gd name="adj" fmla="val 18182"/>
            </a:avLst>
          </a:prstGeom>
          <a:solidFill>
            <a:srgbClr val="C8006E"/>
          </a:solidFill>
          <a:ln/>
        </p:spPr>
      </p:sp>
      <p:sp>
        <p:nvSpPr>
          <p:cNvPr id="37" name="Shape 35"/>
          <p:cNvSpPr/>
          <p:nvPr/>
        </p:nvSpPr>
        <p:spPr>
          <a:xfrm>
            <a:off x="9619488" y="2221992"/>
            <a:ext cx="1965960" cy="246888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38" name="Text 36"/>
          <p:cNvSpPr/>
          <p:nvPr/>
        </p:nvSpPr>
        <p:spPr>
          <a:xfrm>
            <a:off x="9619488" y="196596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應用層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9729216" y="2651760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Dashboard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729216" y="3547872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Email／LINE 通知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9729216" y="4443984"/>
            <a:ext cx="1746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CSV／Excel 匯出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管理總覽：一眼看出該搶救誰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以下皆為原型系統實際運作畫面截圖（非示意圖）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76656" y="1636776"/>
            <a:ext cx="10835640" cy="4578858"/>
          </a:xfrm>
          <a:prstGeom prst="roundRect">
            <a:avLst>
              <a:gd name="adj" fmla="val 1198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6" name="Image 0" descr="C:\Users\sherr\Desktop\智慧巡訪與成交預判系統\docs\screenshots\crop\kpi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10725912" cy="4469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252210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實際畫面：客戶總數／高風險客戶／平均成交機率 KPI ＋ 客戶價值×成交機率×風險 散佈圖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01（續）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客戶地理熱點 ＋ 效益模擬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76656" y="1316736"/>
            <a:ext cx="8376906" cy="2121408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5" name="Image 0" descr="C:\Users\sherr\Desktop\智慧巡訪與成交預判系統\docs\screenshots\crop\geo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8267178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45643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實際畫面：客戶地理分佈地圖（風險燈號）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" y="3950208"/>
            <a:ext cx="4101698" cy="1892808"/>
          </a:xfrm>
          <a:prstGeom prst="roundRect">
            <a:avLst>
              <a:gd name="adj" fmla="val 2899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8" name="Image 1" descr="C:\Users\sherr\Desktop\智慧巡訪與成交預判系統\docs\screenshots\crop\rep_risk_eff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005072"/>
            <a:ext cx="3991970" cy="17830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861304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實際畫面：各業務員風險分佈 ＋ AI 排序 vs 隨機拜訪效益模擬（含 95% 信賴區間）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業務員每日建議：拜訪優先清單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依「成交機率 × 客戶價值 × 風險」排序，取代純文字/經驗判斷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76656" y="1636776"/>
            <a:ext cx="10257338" cy="4270248"/>
          </a:xfrm>
          <a:prstGeom prst="roundRect">
            <a:avLst>
              <a:gd name="adj" fmla="val 1285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6" name="Image 0" descr="C:\Users\sherr\Desktop\智慧巡訪與成交預判系統\docs\screenshots\crop\priority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10147610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5943600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實際畫面：選定業務員「丁雅玲」的今日建議拜訪清單（含風險燈號、成交機率、營收）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02（續）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拜訪路線地圖 ＋ Next Best Action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76656" y="1316736"/>
            <a:ext cx="7094728" cy="2624328"/>
          </a:xfrm>
          <a:prstGeom prst="roundRect">
            <a:avLst>
              <a:gd name="adj" fmla="val 2091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5" name="Image 0" descr="C:\Users\sherr\Desktop\智慧巡訪與成交預判系統\docs\screenshots\crop\route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6985000" cy="2514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95935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實際畫面：地圖上以數字標出建議拜訪順序（直線示意，非實際路網路徑）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" y="4334256"/>
            <a:ext cx="5861599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8" name="Image 1" descr="C:\Users\sherr\Desktop\智慧巡訪與成交預判系統\docs\screenshots\crop\nba_a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389120"/>
            <a:ext cx="5751871" cy="1188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65099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實際畫面：Top 3 建議行動，每筆都附上 Next Best Action 推薦品項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客戶診斷：系統判斷不是黑盒子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76656" y="1316736"/>
            <a:ext cx="6023967" cy="2258568"/>
          </a:xfrm>
          <a:prstGeom prst="roundRect">
            <a:avLst>
              <a:gd name="adj" fmla="val 2429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5" name="Image 0" descr="C:\Users\sherr\Desktop\智慧巡訪與成交預判系統\docs\screenshots\crop\explain_n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5914239" cy="2148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593592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實際畫面：系統判斷原因（可解釋性）＋ Next Best Action 建議主推品項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" y="3886200"/>
            <a:ext cx="5335524" cy="1712305"/>
          </a:xfrm>
          <a:prstGeom prst="roundRect">
            <a:avLst>
              <a:gd name="adj" fmla="val 3204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8" name="Image 1" descr="C:\Users\sherr\Desktop\智慧巡訪與成交預判系統\docs\screenshots\crop\order_tr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41064"/>
            <a:ext cx="5225796" cy="160257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5616793"/>
            <a:ext cx="5225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實際畫面：訂單金額趨勢圖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76772" y="3886200"/>
            <a:ext cx="5335524" cy="1816821"/>
          </a:xfrm>
          <a:prstGeom prst="roundRect">
            <a:avLst>
              <a:gd name="adj" fmla="val 3020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11" name="Image 2" descr="C:\Users\sherr\Desktop\智慧巡訪與成交預判系統\docs\screenshots\crop\visit_histor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3941064"/>
            <a:ext cx="5225796" cy="170709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31636" y="5721309"/>
            <a:ext cx="52257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實際畫面：近期拜訪紀錄清單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系統展示　04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49808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每日主動通知 ＋ 一鍵匯出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76656" y="1271016"/>
            <a:ext cx="620572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5" name="Image 0" descr="C:\Users\sherr\Desktop\智慧巡訪與成交預判系統\docs\screenshots\crop\export_butt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25880"/>
            <a:ext cx="609600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929384"/>
            <a:ext cx="10725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實際畫面：全公司／單一業務員 CSV、Excel 一鍵匯出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" y="2167128"/>
            <a:ext cx="3502152" cy="1738092"/>
          </a:xfrm>
          <a:prstGeom prst="roundRect">
            <a:avLst>
              <a:gd name="adj" fmla="val 3157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8" name="Image 1" descr="C:\Users\sherr\Desktop\智慧巡訪與成交預判系統\docs\screenshots\crop\email_previ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21992"/>
            <a:ext cx="3392424" cy="16283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3923508"/>
            <a:ext cx="3392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通知 Dry Run 預覽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343400" y="2167128"/>
            <a:ext cx="3502152" cy="1625011"/>
          </a:xfrm>
          <a:prstGeom prst="roundRect">
            <a:avLst>
              <a:gd name="adj" fmla="val 3376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11" name="Image 2" descr="C:\Users\sherr\Desktop\智慧巡訪與成交預判系統\docs\screenshots\crop\manager_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2221992"/>
            <a:ext cx="3392424" cy="151528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398264" y="3810427"/>
            <a:ext cx="3392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主管高風險彙總信預覽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010144" y="2167128"/>
            <a:ext cx="3502152" cy="1285768"/>
          </a:xfrm>
          <a:prstGeom prst="roundRect">
            <a:avLst>
              <a:gd name="adj" fmla="val 4267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14" name="Image 3" descr="C:\Users\sherr\Desktop\智慧巡訪與成交預判系統\docs\screenshots\crop\line_m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008" y="2221992"/>
            <a:ext cx="3392424" cy="117604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065008" y="3471184"/>
            <a:ext cx="3392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訊息 Mock 預覽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技術驗證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模型表現穩定，不是抽樣運氣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85216" y="1499616"/>
            <a:ext cx="6114743" cy="4133088"/>
          </a:xfrm>
          <a:prstGeom prst="roundRect">
            <a:avLst>
              <a:gd name="adj" fmla="val 1327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5" name="Image 0" descr="C:\Users\sherr\Desktop\智慧巡訪與成交預判系統\docs\screenshots\crop\roc_form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005015" cy="4023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65099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實際畫面：AUC／交叉驗證公式 ＋ out-of-fold ROC 曲線（可用 model/roc_curve.csv 重算驗證）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306056" y="1499616"/>
            <a:ext cx="4270248" cy="1524305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8E5EA"/>
            </a:solidFill>
            <a:prstDash val="solid"/>
          </a:ln>
        </p:spPr>
      </p:sp>
      <p:pic>
        <p:nvPicPr>
          <p:cNvPr id="8" name="Image 1" descr="C:\Users\sherr\Desktop\智慧巡訪與成交預判系統\docs\screenshots\crop\risk_dist_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554480"/>
            <a:ext cx="4160520" cy="141457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60920" y="3042209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實際畫面：IsolationForest 異常分數分佈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落地效益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四個面向的實質價值</a:t>
            </a:r>
            <a:endParaRPr lang="en-US" sz="3000" dirty="0"/>
          </a:p>
        </p:txBody>
      </p:sp>
      <p:pic>
        <p:nvPicPr>
          <p:cNvPr id="4" name="Image 0" descr="C:\Users\sherr\Desktop\智慧巡訪與成交預判系統\docs\assets\effect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4206240" cy="3520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A0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Bootstrap 400 次重抽樣估計（合成資料模擬，正式上線建議 A/B 測試驗證）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349240" y="1691640"/>
            <a:ext cx="548640" cy="548640"/>
          </a:xfrm>
          <a:prstGeom prst="ellipse">
            <a:avLst/>
          </a:prstGeom>
          <a:solidFill>
            <a:srgbClr val="3A2A3E"/>
          </a:solidFill>
          <a:ln/>
        </p:spPr>
      </p:sp>
      <p:sp>
        <p:nvSpPr>
          <p:cNvPr id="7" name="Text 4"/>
          <p:cNvSpPr/>
          <p:nvPr/>
        </p:nvSpPr>
        <p:spPr>
          <a:xfrm>
            <a:off x="53492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⚡</a:t>
            </a:r>
            <a:endParaRPr lang="en-US" sz="1560" dirty="0"/>
          </a:p>
        </p:txBody>
      </p:sp>
      <p:sp>
        <p:nvSpPr>
          <p:cNvPr id="8" name="Text 5"/>
          <p:cNvSpPr/>
          <p:nvPr/>
        </p:nvSpPr>
        <p:spPr>
          <a:xfrm>
            <a:off x="6035040" y="166420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效率面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035040" y="20391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減少無效拜訪，資源集中在高價值/高風險客戶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2587752"/>
            <a:ext cx="548640" cy="548640"/>
          </a:xfrm>
          <a:prstGeom prst="ellipse">
            <a:avLst/>
          </a:prstGeom>
          <a:solidFill>
            <a:srgbClr val="3A2A3E"/>
          </a:solidFill>
          <a:ln/>
        </p:spPr>
      </p:sp>
      <p:sp>
        <p:nvSpPr>
          <p:cNvPr id="11" name="Text 8"/>
          <p:cNvSpPr/>
          <p:nvPr/>
        </p:nvSpPr>
        <p:spPr>
          <a:xfrm>
            <a:off x="5349240" y="2587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560" dirty="0"/>
          </a:p>
        </p:txBody>
      </p:sp>
      <p:sp>
        <p:nvSpPr>
          <p:cNvPr id="12" name="Text 9"/>
          <p:cNvSpPr/>
          <p:nvPr/>
        </p:nvSpPr>
        <p:spPr>
          <a:xfrm>
            <a:off x="6035040" y="25603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防禦面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0" y="293522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及早攔截競品入侵，降低客戶流失率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349240" y="3483864"/>
            <a:ext cx="548640" cy="548640"/>
          </a:xfrm>
          <a:prstGeom prst="ellipse">
            <a:avLst/>
          </a:prstGeom>
          <a:solidFill>
            <a:srgbClr val="3A2A3E"/>
          </a:solidFill>
          <a:ln/>
        </p:spPr>
      </p:sp>
      <p:sp>
        <p:nvSpPr>
          <p:cNvPr id="15" name="Text 12"/>
          <p:cNvSpPr/>
          <p:nvPr/>
        </p:nvSpPr>
        <p:spPr>
          <a:xfrm>
            <a:off x="5349240" y="3483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📈</a:t>
            </a:r>
            <a:endParaRPr lang="en-US" sz="1560" dirty="0"/>
          </a:p>
        </p:txBody>
      </p:sp>
      <p:sp>
        <p:nvSpPr>
          <p:cNvPr id="16" name="Text 13"/>
          <p:cNvSpPr/>
          <p:nvPr/>
        </p:nvSpPr>
        <p:spPr>
          <a:xfrm>
            <a:off x="6035040" y="34564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加值面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35040" y="383133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Next Best Action 主動擴大品項滲透，提升客單價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349240" y="4379976"/>
            <a:ext cx="548640" cy="548640"/>
          </a:xfrm>
          <a:prstGeom prst="ellipse">
            <a:avLst/>
          </a:prstGeom>
          <a:solidFill>
            <a:srgbClr val="3A2A3E"/>
          </a:solidFill>
          <a:ln/>
        </p:spPr>
      </p:sp>
      <p:sp>
        <p:nvSpPr>
          <p:cNvPr id="19" name="Text 16"/>
          <p:cNvSpPr/>
          <p:nvPr/>
        </p:nvSpPr>
        <p:spPr>
          <a:xfrm>
            <a:off x="5349240" y="43799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🔗</a:t>
            </a:r>
            <a:endParaRPr lang="en-US" sz="1560" dirty="0"/>
          </a:p>
        </p:txBody>
      </p:sp>
      <p:sp>
        <p:nvSpPr>
          <p:cNvPr id="20" name="Text 17"/>
          <p:cNvSpPr/>
          <p:nvPr/>
        </p:nvSpPr>
        <p:spPr>
          <a:xfrm>
            <a:off x="6035040" y="43525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9C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傳承面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0350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8D6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業務離職／輪調時，判斷邏輯留在系統裡不隨人走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導入規劃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965960" y="3291840"/>
            <a:ext cx="8229600" cy="0"/>
          </a:xfrm>
          <a:prstGeom prst="line">
            <a:avLst/>
          </a:prstGeom>
          <a:noFill/>
          <a:ln w="38100">
            <a:solidFill>
              <a:srgbClr val="EDEB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37944" y="3163824"/>
            <a:ext cx="256032" cy="256032"/>
          </a:xfrm>
          <a:prstGeom prst="ellipse">
            <a:avLst/>
          </a:prstGeom>
          <a:solidFill>
            <a:srgbClr val="C8006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1–2 個月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61188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BF8F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資料串接與模型驗證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4187952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串接真實 CRM/ERP 資料，模型重新訓練與驗證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52744" y="3163824"/>
            <a:ext cx="256032" cy="256032"/>
          </a:xfrm>
          <a:prstGeom prst="ellipse">
            <a:avLst/>
          </a:prstGeom>
          <a:solidFill>
            <a:srgbClr val="C8006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1772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17720" y="361188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BF8FA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小範圍試點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00600" y="4187952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小範圍業務團隊試點，量測拜訪效率與成交率變化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067544" y="3163824"/>
            <a:ext cx="256032" cy="256032"/>
          </a:xfrm>
          <a:prstGeom prst="ellipse">
            <a:avLst/>
          </a:prstGeom>
          <a:solidFill>
            <a:srgbClr val="C8006E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3252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00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732520" y="2743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持續推廣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732520" y="3611880"/>
            <a:ext cx="2926080" cy="1600200"/>
          </a:xfrm>
          <a:prstGeom prst="roundRect">
            <a:avLst>
              <a:gd name="adj" fmla="val 5714"/>
            </a:avLst>
          </a:prstGeom>
          <a:solidFill>
            <a:srgbClr val="FBF8FA"/>
          </a:solidFill>
          <a:ln/>
        </p:spPr>
      </p:sp>
      <p:sp>
        <p:nvSpPr>
          <p:cNvPr id="21" name="Text 19"/>
          <p:cNvSpPr/>
          <p:nvPr/>
        </p:nvSpPr>
        <p:spPr>
          <a:xfrm>
            <a:off x="891540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E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全區推廣＋進階模組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915400" y="4187952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F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全區推廣，加入真實路網路線規劃、LINE/SMTP 正式串接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中化裕民 CENRA+ Healthcare 賽題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36873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2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572000" cy="4572000"/>
          </a:xfrm>
          <a:prstGeom prst="ellipse">
            <a:avLst/>
          </a:prstGeom>
          <a:solidFill>
            <a:srgbClr val="8C0050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C8006E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D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精準打擊：AI 驅動的「智慧巡訪與成交預判」系統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977640"/>
            <a:ext cx="502920" cy="54864"/>
          </a:xfrm>
          <a:prstGeom prst="rect">
            <a:avLst/>
          </a:prstGeom>
          <a:solidFill>
            <a:srgbClr val="C8006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A9B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團隊成員：＿＿＿＿＿＿＿＿＿＿＿＿＿＿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5852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87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感謝聆聽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2026-08-18T16:37:20Z</dcterms:created>
  <dcterms:modified xsi:type="dcterms:W3CDTF">2026-08-18T16:37:20Z</dcterms:modified>
</cp:coreProperties>
</file>